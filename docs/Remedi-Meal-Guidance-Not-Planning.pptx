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I've reviewed how the top meal-planning apps actually work. My argument is that their core value — organizing meals on a calendar — is not our value. Ours is telling people what to eat for their conditions. So we should ship queues, not a calendar.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pitch in one line. Hold this contrast in mind through the competitor teardown.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each loop against how the apps actually work today (2026). Mealime is confirmed a queue/pool with NO dated calendar — it's the lone 'No' and the model I follow. It's dinner-first with no snacks or beverages; our five-queue model including snacks + beverages is a real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calendar isn't a feature we're missing — it's the answer to a problem our user doesn't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Mealime's genius is what it leaves out. We copy the restraint, not the recipes.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queues map exactly to the PLAN_SLOTS we already have: breakfast, lunch, dinner, snacks, beverages. Tier labels (Top/Strong/Good) — no numeric scores, per Lenhardt.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ties straight back to the 'not a tracker' principle. The calendar is the seam where tracker behavior sneaks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Mory's weekly-plan ask: I'm not dropping the plan, I'm dropping the dates. The recommendation set is still the vehicle.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thing I'd flag: recipes still carry no calories/serving field, so a day total that includes a recipe is partial. Everything else for queues is data-ready.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clear decision. If Mory agrees, the build is small and the data is already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05156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E0A526"/>
          </a:solidFill>
          <a:ln/>
        </p:spPr>
      </p:sp>
      <p:sp>
        <p:nvSpPr>
          <p:cNvPr id="3" name="Text 1"/>
          <p:cNvSpPr/>
          <p:nvPr/>
        </p:nvSpPr>
        <p:spPr>
          <a:xfrm>
            <a:off x="886968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13648" y="161848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3E6B54"/>
          </a:solidFill>
          <a:ln/>
        </p:spPr>
      </p:sp>
      <p:sp>
        <p:nvSpPr>
          <p:cNvPr id="5" name="Text 3"/>
          <p:cNvSpPr/>
          <p:nvPr/>
        </p:nvSpPr>
        <p:spPr>
          <a:xfrm>
            <a:off x="8613648" y="1618488"/>
            <a:ext cx="265176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57616" y="2185416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3E6B54"/>
          </a:solidFill>
          <a:ln/>
        </p:spPr>
      </p:sp>
      <p:sp>
        <p:nvSpPr>
          <p:cNvPr id="7" name="Text 5"/>
          <p:cNvSpPr/>
          <p:nvPr/>
        </p:nvSpPr>
        <p:spPr>
          <a:xfrm>
            <a:off x="8357616" y="2185416"/>
            <a:ext cx="265176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3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 · PRODUCT DIRECTION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55448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Meal guidance,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 meal planning.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queues over calendars — and why the thing that makes other planners valuable is exactly what we should leave out.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Mory  ·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Planners sell organization.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 sell the decision.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063240"/>
            <a:ext cx="5212080" cy="2926080"/>
          </a:xfrm>
          <a:prstGeom prst="roundRect">
            <a:avLst>
              <a:gd name="adj" fmla="val 4375"/>
            </a:avLst>
          </a:prstGeom>
          <a:solidFill>
            <a:srgbClr val="3E6B54"/>
          </a:solidFill>
          <a:ln/>
          <a:effectLst>
            <a:outerShdw sx="100000" sy="100000" kx="0" ky="0" algn="bl" rotWithShape="0" blurRad="88900" dist="25400" dir="5400000">
              <a:srgbClr val="9A9086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0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other planner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88720" y="388620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“When will I cook what this week?”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is logistics — slotting recipes into days, syncing a grocery list. The calendar IS the product.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355080" y="3063240"/>
            <a:ext cx="5212080" cy="2926080"/>
          </a:xfrm>
          <a:prstGeom prst="roundRect">
            <a:avLst>
              <a:gd name="adj" fmla="val 4375"/>
            </a:avLst>
          </a:prstGeom>
          <a:solidFill>
            <a:srgbClr val="E0A526"/>
          </a:solidFill>
          <a:ln/>
          <a:effectLst>
            <a:outerShdw sx="100000" sy="100000" kx="0" ky="0" algn="bl" rotWithShape="0" blurRad="88900" dist="25400" dir="5400000">
              <a:srgbClr val="9A9086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4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Remedi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720840" y="388620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“What should I eat for my conditions?”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is judgment — ranking foods by clinical fit. The decision IS the product. Scheduling is noise.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TOP PLANNERS ACTUALLY OPERATE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leaders, one shared shape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651760" cy="457200"/>
          </a:xfrm>
          <a:prstGeom prst="rect">
            <a:avLst/>
          </a:prstGeom>
          <a:solidFill>
            <a:srgbClr val="1B3A2D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691640"/>
            <a:ext cx="24140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691640"/>
            <a:ext cx="4754880" cy="457200"/>
          </a:xfrm>
          <a:prstGeom prst="rect">
            <a:avLst/>
          </a:prstGeom>
          <a:solidFill>
            <a:srgbClr val="1B3A2D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02736" y="1691640"/>
            <a:ext cx="45171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0" y="1691640"/>
            <a:ext cx="2743200" cy="457200"/>
          </a:xfrm>
          <a:prstGeom prst="rect">
            <a:avLst/>
          </a:prstGeom>
          <a:solidFill>
            <a:srgbClr val="1B3A2D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57616" y="1691640"/>
            <a:ext cx="250545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sell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0" y="1691640"/>
            <a:ext cx="1234440" cy="457200"/>
          </a:xfrm>
          <a:prstGeom prst="rect">
            <a:avLst/>
          </a:prstGeom>
          <a:solidFill>
            <a:srgbClr val="1B3A2D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00816" y="1691640"/>
            <a:ext cx="9966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2148840"/>
            <a:ext cx="2651760" cy="786384"/>
          </a:xfrm>
          <a:prstGeom prst="rect">
            <a:avLst/>
          </a:prstGeom>
          <a:solidFill>
            <a:srgbClr val="F5F0E8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148840"/>
            <a:ext cx="2414016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5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Mealime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74720" y="2148840"/>
            <a:ext cx="4754880" cy="786384"/>
          </a:xfrm>
          <a:prstGeom prst="rect">
            <a:avLst/>
          </a:prstGeom>
          <a:solidFill>
            <a:srgbClr val="F5F0E8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2148840"/>
            <a:ext cx="4517136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5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→ swipe for a set of dinners → aisle-sorted grocery list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2148840"/>
            <a:ext cx="2743200" cy="786384"/>
          </a:xfrm>
          <a:prstGeom prst="rect">
            <a:avLst/>
          </a:prstGeom>
          <a:solidFill>
            <a:srgbClr val="F5F0E8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148840"/>
            <a:ext cx="2505456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5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“what’s for dinner” decision fatigue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972800" y="2148840"/>
            <a:ext cx="1234440" cy="786384"/>
          </a:xfrm>
          <a:prstGeom prst="rect">
            <a:avLst/>
          </a:prstGeom>
          <a:solidFill>
            <a:srgbClr val="F5F0E8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00816" y="2148840"/>
            <a:ext cx="996696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5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2935224"/>
            <a:ext cx="2651760" cy="749808"/>
          </a:xfrm>
          <a:prstGeom prst="rect">
            <a:avLst/>
          </a:prstGeom>
          <a:solidFill>
            <a:srgbClr val="FBF9F5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2935224"/>
            <a:ext cx="241401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This Much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74720" y="2935224"/>
            <a:ext cx="4754880" cy="749808"/>
          </a:xfrm>
          <a:prstGeom prst="rect">
            <a:avLst/>
          </a:prstGeom>
          <a:solidFill>
            <a:srgbClr val="FBF9F5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02736" y="2935224"/>
            <a:ext cx="451713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→ calorie target → auto-fills slots → lock &amp; regenerate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0" y="2935224"/>
            <a:ext cx="2743200" cy="749808"/>
          </a:xfrm>
          <a:prstGeom prst="rect">
            <a:avLst/>
          </a:prstGeom>
          <a:solidFill>
            <a:srgbClr val="FBF9F5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7616" y="2935224"/>
            <a:ext cx="250545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Hitting a calorie / macro number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972800" y="2935224"/>
            <a:ext cx="1234440" cy="749808"/>
          </a:xfrm>
          <a:prstGeom prst="rect">
            <a:avLst/>
          </a:prstGeom>
          <a:solidFill>
            <a:srgbClr val="FBF9F5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00816" y="2935224"/>
            <a:ext cx="99669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3685032"/>
            <a:ext cx="2651760" cy="749808"/>
          </a:xfrm>
          <a:prstGeom prst="rect">
            <a:avLst/>
          </a:prstGeom>
          <a:solidFill>
            <a:srgbClr val="F5F0E8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3685032"/>
            <a:ext cx="241401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PlateJoy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474720" y="3685032"/>
            <a:ext cx="4754880" cy="749808"/>
          </a:xfrm>
          <a:prstGeom prst="rect">
            <a:avLst/>
          </a:prstGeom>
          <a:solidFill>
            <a:srgbClr val="F5F0E8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685032"/>
            <a:ext cx="451713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50-pt survey → calorie range → full weekly menu → synced list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229600" y="3685032"/>
            <a:ext cx="2743200" cy="749808"/>
          </a:xfrm>
          <a:prstGeom prst="rect">
            <a:avLst/>
          </a:prstGeom>
          <a:solidFill>
            <a:srgbClr val="F5F0E8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57616" y="3685032"/>
            <a:ext cx="250545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personalization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0972800" y="3685032"/>
            <a:ext cx="1234440" cy="749808"/>
          </a:xfrm>
          <a:prstGeom prst="rect">
            <a:avLst/>
          </a:prstGeom>
          <a:solidFill>
            <a:srgbClr val="F5F0E8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00816" y="3685032"/>
            <a:ext cx="99669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22960" y="4434840"/>
            <a:ext cx="2651760" cy="749808"/>
          </a:xfrm>
          <a:prstGeom prst="rect">
            <a:avLst/>
          </a:prstGeom>
          <a:solidFill>
            <a:srgbClr val="FBF9F5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0976" y="4434840"/>
            <a:ext cx="241401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Food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474720" y="4434840"/>
            <a:ext cx="4754880" cy="749808"/>
          </a:xfrm>
          <a:prstGeom prst="rect">
            <a:avLst/>
          </a:prstGeom>
          <a:solidFill>
            <a:srgbClr val="FBF9F5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02736" y="4434840"/>
            <a:ext cx="451713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recipes → AI weekly plan → list + smart appliance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229600" y="4434840"/>
            <a:ext cx="2743200" cy="749808"/>
          </a:xfrm>
          <a:prstGeom prst="rect">
            <a:avLst/>
          </a:prstGeom>
          <a:solidFill>
            <a:srgbClr val="FBF9F5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57616" y="4434840"/>
            <a:ext cx="250545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universal recipe hub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10972800" y="4434840"/>
            <a:ext cx="1234440" cy="749808"/>
          </a:xfrm>
          <a:prstGeom prst="rect">
            <a:avLst/>
          </a:prstGeom>
          <a:solidFill>
            <a:srgbClr val="FBF9F5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00816" y="4434840"/>
            <a:ext cx="99669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22960" y="5184648"/>
            <a:ext cx="2651760" cy="749808"/>
          </a:xfrm>
          <a:prstGeom prst="rect">
            <a:avLst/>
          </a:prstGeom>
          <a:solidFill>
            <a:srgbClr val="F5F0E8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0976" y="5184648"/>
            <a:ext cx="241401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Diabetes Food Hub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3474720" y="5184648"/>
            <a:ext cx="4754880" cy="749808"/>
          </a:xfrm>
          <a:prstGeom prst="rect">
            <a:avLst/>
          </a:prstGeom>
          <a:solidFill>
            <a:srgbClr val="F5F0E8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02736" y="5184648"/>
            <a:ext cx="451713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recipes onto a calendar → nutrition totals + list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229600" y="5184648"/>
            <a:ext cx="2743200" cy="749808"/>
          </a:xfrm>
          <a:prstGeom prst="rect">
            <a:avLst/>
          </a:prstGeom>
          <a:solidFill>
            <a:srgbClr val="F5F0E8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57616" y="5184648"/>
            <a:ext cx="250545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Diabetes-safe recipes (manual)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972800" y="5184648"/>
            <a:ext cx="1234440" cy="749808"/>
          </a:xfrm>
          <a:prstGeom prst="rect">
            <a:avLst/>
          </a:prstGeom>
          <a:solidFill>
            <a:srgbClr val="F5F0E8"/>
          </a:solidFill>
          <a:ln w="9525">
            <a:solidFill>
              <a:srgbClr val="EAE4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100816" y="5184648"/>
            <a:ext cx="996696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822960" y="6044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72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Mealime is the one I keep coming back to — no dates, least ceremony, closest to “here, eat this.” Its gap — no lunch, snacks, or drinks — is our opening.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ALL SHARE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calendar is their moat — because logistics is their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08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926080"/>
            <a:ext cx="566928" cy="566928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Their user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40690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busy home cook with no health constraint. “I have seven dinners to figure out.”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265176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08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2926080"/>
            <a:ext cx="566928" cy="566928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Their job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40690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planning friction — slot meals into days, generate the shopping run.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265176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08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926080"/>
            <a:ext cx="566928" cy="566928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4964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Their payoff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49640" y="40690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saved. The calendar + grocery list is where that saving happens.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describes our user. So none of it should describe our product.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I'D BORROW FROM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8755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Mealime lesson: subtract until it’s a suggestion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5F0E8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08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542032"/>
            <a:ext cx="548640" cy="548640"/>
          </a:xfrm>
          <a:prstGeom prst="ellipse">
            <a:avLst/>
          </a:prstGeom>
          <a:solidFill>
            <a:srgbClr val="1B3A2D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25786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Quick quiz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32461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Diet, allergies, servings — under a minute.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24528" y="2286000"/>
            <a:ext cx="365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26280" y="22860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5F0E8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08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542032"/>
            <a:ext cx="548640" cy="548640"/>
          </a:xfrm>
          <a:prstGeom prst="ellipse">
            <a:avLst/>
          </a:prstGeom>
          <a:solidFill>
            <a:srgbClr val="1B3A2D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32120" y="25786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Suggestions appear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46320" y="32461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rotating set of meals chosen for you.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27848" y="2286000"/>
            <a:ext cx="365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0" y="22860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5F0E8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086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49640" y="2542032"/>
            <a:ext cx="548640" cy="548640"/>
          </a:xfrm>
          <a:prstGeom prst="ellipse">
            <a:avLst/>
          </a:prstGeom>
          <a:solidFill>
            <a:srgbClr val="1B3A2D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5440" y="25786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Cook / shop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49640" y="32461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an aisle-sorted list. No dates to manage.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Mealime never asks “which day?” — it hands you a curated set and gets out of the way. That’s the interaction we want, pointed at conditions instead of taste.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3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8755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queues, ranked by clinical fit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queue is a short, condition-ranked list of what to eat. Not good enough? Shuffle. No week to fill, no day to assign.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1965960" cy="502920"/>
          </a:xfrm>
          <a:prstGeom prst="roundRect">
            <a:avLst>
              <a:gd name="adj" fmla="val 16364"/>
            </a:avLst>
          </a:prstGeom>
          <a:solidFill>
            <a:srgbClr val="E0A52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97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C3E2E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3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6112" y="3904488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C3E2E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904488"/>
            <a:ext cx="1828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9264" y="4471416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C3E2E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4471416"/>
            <a:ext cx="1828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35808" y="2697480"/>
            <a:ext cx="1965960" cy="502920"/>
          </a:xfrm>
          <a:prstGeom prst="roundRect">
            <a:avLst>
              <a:gd name="adj" fmla="val 16364"/>
            </a:avLst>
          </a:prstGeom>
          <a:solidFill>
            <a:srgbClr val="8FB07A"/>
          </a:solidFill>
          <a:ln/>
        </p:spPr>
      </p:sp>
      <p:sp>
        <p:nvSpPr>
          <p:cNvPr id="14" name="Text 12"/>
          <p:cNvSpPr/>
          <p:nvPr/>
        </p:nvSpPr>
        <p:spPr>
          <a:xfrm>
            <a:off x="3035808" y="2697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035808" y="333756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C3E2E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3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3904488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C3E2E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3904488"/>
            <a:ext cx="1828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82112" y="4471416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C3E2E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4471416"/>
            <a:ext cx="1828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48656" y="2697480"/>
            <a:ext cx="1965960" cy="502920"/>
          </a:xfrm>
          <a:prstGeom prst="roundRect">
            <a:avLst>
              <a:gd name="adj" fmla="val 16364"/>
            </a:avLst>
          </a:prstGeom>
          <a:solidFill>
            <a:srgbClr val="3E6B54"/>
          </a:solidFill>
          <a:ln/>
        </p:spPr>
      </p:sp>
      <p:sp>
        <p:nvSpPr>
          <p:cNvPr id="22" name="Text 20"/>
          <p:cNvSpPr/>
          <p:nvPr/>
        </p:nvSpPr>
        <p:spPr>
          <a:xfrm>
            <a:off x="5248656" y="2697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248656" y="333756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C3E2E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48656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3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21808" y="3904488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C3E2E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1808" y="3904488"/>
            <a:ext cx="1828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4471416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C3E2E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4471416"/>
            <a:ext cx="1828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61504" y="2697480"/>
            <a:ext cx="1965960" cy="502920"/>
          </a:xfrm>
          <a:prstGeom prst="roundRect">
            <a:avLst>
              <a:gd name="adj" fmla="val 16364"/>
            </a:avLst>
          </a:prstGeom>
          <a:solidFill>
            <a:srgbClr val="E0A526"/>
          </a:solidFill>
          <a:ln/>
        </p:spPr>
      </p:sp>
      <p:sp>
        <p:nvSpPr>
          <p:cNvPr id="30" name="Text 28"/>
          <p:cNvSpPr/>
          <p:nvPr/>
        </p:nvSpPr>
        <p:spPr>
          <a:xfrm>
            <a:off x="7461504" y="2697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461504" y="333756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C3E2E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61504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3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34656" y="3904488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C3E2E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34656" y="3904488"/>
            <a:ext cx="1828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07808" y="4471416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C3E2E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07808" y="4471416"/>
            <a:ext cx="1828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674352" y="2697480"/>
            <a:ext cx="1965960" cy="502920"/>
          </a:xfrm>
          <a:prstGeom prst="roundRect">
            <a:avLst>
              <a:gd name="adj" fmla="val 16364"/>
            </a:avLst>
          </a:prstGeom>
          <a:solidFill>
            <a:srgbClr val="8FB07A"/>
          </a:solidFill>
          <a:ln/>
        </p:spPr>
      </p:sp>
      <p:sp>
        <p:nvSpPr>
          <p:cNvPr id="38" name="Text 36"/>
          <p:cNvSpPr/>
          <p:nvPr/>
        </p:nvSpPr>
        <p:spPr>
          <a:xfrm>
            <a:off x="9674352" y="2697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9674352" y="333756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C3E2E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74352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3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747504" y="3904488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C3E2E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47504" y="3904488"/>
            <a:ext cx="1828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820656" y="4471416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C3E2E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20656" y="4471416"/>
            <a:ext cx="1828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FB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content Mory wants delivered — just presented as a decision, not a schedule.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DROP THE CALENDAR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calendar adds friction our user never asked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807208"/>
            <a:ext cx="457200" cy="457200"/>
          </a:xfrm>
          <a:prstGeom prst="ellipse">
            <a:avLst/>
          </a:prstGeom>
          <a:solidFill>
            <a:srgbClr val="3E6B54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27157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Our user is already motivated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37360" y="322783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came with a diagnosis and intent. They want the answer, not a scheduling chore.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251460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807208"/>
            <a:ext cx="457200" cy="457200"/>
          </a:xfrm>
          <a:prstGeom prst="ellipse">
            <a:avLst/>
          </a:prstGeom>
          <a:solidFill>
            <a:srgbClr val="3E6B54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69480" y="27157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Dates imply tracking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269480" y="322783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7-day grid invites “did you eat it?” — that’s the tracker trap we’ve ruled out.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20624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498848"/>
            <a:ext cx="457200" cy="457200"/>
          </a:xfrm>
          <a:prstGeom prst="ellipse">
            <a:avLst/>
          </a:prstGeom>
          <a:solidFill>
            <a:srgbClr val="3E6B54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37360" y="44074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Conditions don’t care what day it is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737360" y="491947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for you” is stable across the week. Assigning Tuesday vs. Thursday adds zero clinical value.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20624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498848"/>
            <a:ext cx="457200" cy="457200"/>
          </a:xfrm>
          <a:prstGeom prst="ellipse">
            <a:avLst/>
          </a:prstGeom>
          <a:solidFill>
            <a:srgbClr val="3E6B54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9480" y="44074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Less to maintain, more to trust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269480" y="491947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empty slots to guilt-fill. A short ranked queue reads as advice, not homework.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THIS WITH THE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87552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“The meal plan is the vehicle” — agreed. The queue IS that plan.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5212080" cy="2286000"/>
          </a:xfrm>
          <a:prstGeom prst="roundRect">
            <a:avLst>
              <a:gd name="adj" fmla="val 5200"/>
            </a:avLst>
          </a:prstGeom>
          <a:solidFill>
            <a:srgbClr val="E0A526"/>
          </a:solidFill>
          <a:ln/>
          <a:effectLst>
            <a:outerShdw sx="100000" sy="100000" kx="0" ky="0" algn="bl" rotWithShape="0" blurRad="88900" dist="25400" dir="5400000">
              <a:srgbClr val="9A9086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4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stays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32918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recommended set of meals + snacks + beverages, delivered as the product’s spine. Recipe-forward. Calorie total for the day’s recommendation.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2468880"/>
            <a:ext cx="5212080" cy="2286000"/>
          </a:xfrm>
          <a:prstGeom prst="roundRect">
            <a:avLst>
              <a:gd name="adj" fmla="val 5200"/>
            </a:avLst>
          </a:prstGeom>
          <a:solidFill>
            <a:srgbClr val="3E6B54"/>
          </a:solidFill>
          <a:ln/>
          <a:effectLst>
            <a:outerShdw sx="100000" sy="100000" kx="0" ky="0" algn="bl" rotWithShape="0" blurRad="88900" dist="25400" dir="5400000">
              <a:srgbClr val="9A9086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changes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20840" y="32918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drop the dated 7-day grid and the scheduler. Delivery becomes a ranked queue per slot, refreshable on demand.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Net: Mory’s outcome (a delivered plan) is preserved. We only remove the calendar machinery underneath it.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READINESS — THE DATA IS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database already supports the queue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08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890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1,485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cached locally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11880" y="17830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08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890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4904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cached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08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890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tagged snack / beverage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611880"/>
            <a:ext cx="105156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76200" dist="25400" dir="5400000">
              <a:srgbClr val="9A908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4300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this pass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25196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local tables — items, conditions, groups — bundled, no network at runtime.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+ beverage tags now cover every real candidate: dairy milks &amp; cheeses, bread crackers &amp; bars added this pass.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ingredients (honey, molasses, butter, creams) correctly excluded — a group isn’t a meal.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verified: no duplicate IDs, no orphan tags, generator reproducible.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3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Bless the queue model — I’ll retire the calendar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69748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163527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6974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D4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Decision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0" y="269748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queues replace the dated weekly grid as the delivery surface.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163527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8404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D4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I’ll handle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0" y="384048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scheduler UI, wire the five queues to the tagged candidate pools, keep the daily calorie total.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98348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163527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9834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D4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Need from you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0" y="498348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recipes can’t carry calories/serving yet — decides whether day totals count recipes.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2026-07-23T12:41:42Z</dcterms:created>
  <dcterms:modified xsi:type="dcterms:W3CDTF">2026-07-23T12:41:42Z</dcterms:modified>
</cp:coreProperties>
</file>